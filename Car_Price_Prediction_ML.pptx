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2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2.xlsx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R² Score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6D9"/>
              </a:solidFill>
              <a:effectLst/>
            </c:spPr>
          </c:dPt>
          <c:dLbls>
            <c:numFmt formatCode="0.000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Random Forest</c:v>
                </c:pt>
                <c:pt idx="1">
                  <c:v>Gradient Boosting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0.9586</c:v>
                </c:pt>
                <c:pt idx="1">
                  <c:v>0.9272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"/>
          <c:min val="0.0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Error in Dollars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($)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Random Forest</c:v>
                </c:pt>
                <c:pt idx="1">
                  <c:v>Gradient Boosting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1288.69</c:v>
                </c:pt>
                <c:pt idx="1">
                  <c:v>1680.31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($)</c:v>
                </c:pt>
              </c:strCache>
            </c:strRef>
          </c:tx>
          <c:spPr>
            <a:solidFill>
              <a:srgbClr val="F4B18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Random Forest</c:v>
                </c:pt>
                <c:pt idx="1">
                  <c:v>Gradient Boosting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1808.72</c:v>
                </c:pt>
                <c:pt idx="1">
                  <c:v>2397.17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000" b="0" i="0" u="none" strike="noStrik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Luxury Brand
Goodwill</c:v>
                </c:pt>
                <c:pt idx="1">
                  <c:v>Horsepower</c:v>
                </c:pt>
                <c:pt idx="2">
                  <c:v>Curb Weight</c:v>
                </c:pt>
                <c:pt idx="3">
                  <c:v>Engine Size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</c:v>
                </c:pt>
                <c:pt idx="1">
                  <c:v>0.17</c:v>
                </c:pt>
                <c:pt idx="2">
                  <c:v>0.24</c:v>
                </c:pt>
                <c:pt idx="3">
                  <c:v>0.34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0" i="0" u="none" strike="noStrik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77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7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7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9692640" y="4572000"/>
            <a:ext cx="3840480" cy="3840480"/>
          </a:xfrm>
          <a:prstGeom prst="ellipse"/>
          <a:solidFill>
            <a:srgbClr val="141B47"/>
          </a:solidFill>
        </p:spPr>
      </p:sp>
      <p:sp>
        <p:nvSpPr>
          <p:cNvPr id="1048577" name="Shape 1"/>
          <p:cNvSpPr/>
          <p:nvPr/>
        </p:nvSpPr>
        <p:spPr>
          <a:xfrm>
            <a:off x="10607040" y="5486400"/>
            <a:ext cx="2194560" cy="2194560"/>
          </a:xfrm>
          <a:prstGeom prst="ellipse"/>
          <a:solidFill>
            <a:srgbClr val="26307A"/>
          </a:solidFill>
        </p:spPr>
      </p:sp>
      <p:sp>
        <p:nvSpPr>
          <p:cNvPr id="1048578" name="Text 2"/>
          <p:cNvSpPr txBox="1"/>
          <p:nvPr/>
        </p:nvSpPr>
        <p:spPr>
          <a:xfrm>
            <a:off x="822960" y="1965960"/>
            <a:ext cx="9601200" cy="8229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PRICE PREDICTION</a:t>
            </a:r>
            <a:endParaRPr dirty="0" sz="4000" lang="en-US"/>
          </a:p>
        </p:txBody>
      </p:sp>
      <p:sp>
        <p:nvSpPr>
          <p:cNvPr id="1048579" name="Text 3"/>
          <p:cNvSpPr txBox="1"/>
          <p:nvPr/>
        </p:nvSpPr>
        <p:spPr>
          <a:xfrm>
            <a:off x="822960" y="2514600"/>
            <a:ext cx="96012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4000" lang="en-US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MACHINE LEARNING</a:t>
            </a:r>
            <a:endParaRPr dirty="0" sz="4000" lang="en-US"/>
          </a:p>
        </p:txBody>
      </p:sp>
      <p:sp>
        <p:nvSpPr>
          <p:cNvPr id="1048580" name="Text 4"/>
          <p:cNvSpPr txBox="1"/>
          <p:nvPr/>
        </p:nvSpPr>
        <p:spPr>
          <a:xfrm>
            <a:off x="822960" y="3246120"/>
            <a:ext cx="8229600" cy="45720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700" i="1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Regression Approach to Vehicle Valuation</a:t>
            </a:r>
            <a:endParaRPr dirty="0" sz="1700" lang="en-US"/>
          </a:p>
        </p:txBody>
      </p:sp>
      <p:sp>
        <p:nvSpPr>
          <p:cNvPr id="1048581" name="Shape 5"/>
          <p:cNvSpPr/>
          <p:nvPr/>
        </p:nvSpPr>
        <p:spPr>
          <a:xfrm>
            <a:off x="822960" y="39776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B47"/>
          </a:solidFill>
          <a:ln w="12700">
            <a:solidFill>
              <a:srgbClr val="3A448F"/>
            </a:solidFill>
            <a:prstDash val="solid"/>
          </a:ln>
        </p:spPr>
      </p:sp>
      <p:sp>
        <p:nvSpPr>
          <p:cNvPr id="1048582" name="Text 6"/>
          <p:cNvSpPr txBox="1"/>
          <p:nvPr/>
        </p:nvSpPr>
        <p:spPr>
          <a:xfrm>
            <a:off x="1005840" y="4114800"/>
            <a:ext cx="2926080" cy="5943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600" lang="en-US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0.9586</a:t>
            </a:r>
            <a:endParaRPr dirty="0" sz="2600" lang="en-US"/>
          </a:p>
        </p:txBody>
      </p:sp>
      <p:sp>
        <p:nvSpPr>
          <p:cNvPr id="1048583" name="Text 7"/>
          <p:cNvSpPr txBox="1"/>
          <p:nvPr/>
        </p:nvSpPr>
        <p:spPr>
          <a:xfrm>
            <a:off x="1005840" y="4709160"/>
            <a:ext cx="30175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0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Regressor</a:t>
            </a:r>
            <a:endParaRPr dirty="0" sz="1100" lang="en-US"/>
          </a:p>
        </p:txBody>
      </p:sp>
      <p:sp>
        <p:nvSpPr>
          <p:cNvPr id="1048584" name="Text 8"/>
          <p:cNvSpPr txBox="1"/>
          <p:nvPr/>
        </p:nvSpPr>
        <p:spPr>
          <a:xfrm>
            <a:off x="822960" y="5989320"/>
            <a:ext cx="91440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200" lang="en-US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Scikit-Learn  ·  Matplotlib  ·  Seaborn</a:t>
            </a: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dirty="0" sz="3200" lang="en-US"/>
          </a:p>
        </p:txBody>
      </p:sp>
      <p:sp>
        <p:nvSpPr>
          <p:cNvPr id="1048590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data-driven valuation beats manual comparables</a:t>
            </a:r>
            <a:endParaRPr dirty="0" sz="1400" lang="en-US"/>
          </a:p>
        </p:txBody>
      </p:sp>
      <p:sp>
        <p:nvSpPr>
          <p:cNvPr id="1048591" name="Shape 2"/>
          <p:cNvSpPr/>
          <p:nvPr/>
        </p:nvSpPr>
        <p:spPr>
          <a:xfrm>
            <a:off x="640080" y="16002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  <a:effectLst>
            <a:outerShdw algn="bl" blurRad="76200" dir="5400000" dist="25400" kx="0" ky="0" rotWithShape="0" sx="100000" sy="100000">
              <a:srgbClr val="999999">
                <a:alpha val="25000"/>
              </a:srgbClr>
            </a:outerShdw>
          </a:effectLst>
        </p:spPr>
      </p:sp>
      <p:sp>
        <p:nvSpPr>
          <p:cNvPr id="1048592" name="Text 3"/>
          <p:cNvSpPr txBox="1"/>
          <p:nvPr/>
        </p:nvSpPr>
        <p:spPr>
          <a:xfrm>
            <a:off x="914400" y="1828800"/>
            <a:ext cx="4663440" cy="91440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comparable-based pricing is slow, inconsistent, and doesn't scale across thousands of listings.</a:t>
            </a:r>
            <a:endParaRPr dirty="0" sz="1400" lang="en-US"/>
          </a:p>
        </p:txBody>
      </p:sp>
      <p:sp>
        <p:nvSpPr>
          <p:cNvPr id="1048593" name="Text 4"/>
          <p:cNvSpPr txBox="1"/>
          <p:nvPr/>
        </p:nvSpPr>
        <p:spPr>
          <a:xfrm>
            <a:off x="914400" y="2834640"/>
            <a:ext cx="4663440" cy="3017520"/>
          </a:xfrm>
          <a:prstGeom prst="rect"/>
          <a:noFill/>
        </p:spPr>
        <p:txBody>
          <a:bodyPr anchor="t" bIns="0" lIns="0" rIns="0" rtlCol="0" tIns="0" wrap="square"/>
          <a:p>
            <a:pPr algn="l" indent="-228600" marL="2286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model that prices vehicles from mechanical specs, dimensions, fuel economy, and brand equity</a:t>
            </a:r>
            <a:endParaRPr dirty="0" sz="1350" lang="en-US"/>
          </a:p>
          <a:p>
            <a:pPr algn="l" indent="-228600" marL="228600">
              <a:spcAft>
                <a:spcPts val="1200"/>
              </a:spcAft>
              <a:buSzPct val="100000"/>
              <a:buChar char="•"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two ensemble algorithms — Random Forest vs. Gradient Boosting</a:t>
            </a:r>
            <a:endParaRPr dirty="0" sz="1350" lang="en-US"/>
          </a:p>
          <a:p>
            <a:pPr algn="l" indent="-228600" marL="228600">
              <a:buSzPct val="100000"/>
              <a:buChar char="•"/>
            </a:pPr>
            <a:r>
              <a:rPr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jointly for R², MAE, and RMSE to ensure both accuracy and dollar-level reliability</a:t>
            </a:r>
            <a:endParaRPr dirty="0" sz="1350" lang="en-US"/>
          </a:p>
        </p:txBody>
      </p:sp>
      <p:sp>
        <p:nvSpPr>
          <p:cNvPr id="1048594" name="Shape 5"/>
          <p:cNvSpPr/>
          <p:nvPr/>
        </p:nvSpPr>
        <p:spPr>
          <a:xfrm>
            <a:off x="617220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</p:spPr>
      </p:sp>
      <p:sp>
        <p:nvSpPr>
          <p:cNvPr id="1048595" name="Text 6"/>
          <p:cNvSpPr txBox="1"/>
          <p:nvPr/>
        </p:nvSpPr>
        <p:spPr>
          <a:xfrm>
            <a:off x="6492240" y="1828800"/>
            <a:ext cx="475488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200" kern="0" lang="en-US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 → MARKET PRICE</a:t>
            </a:r>
            <a:endParaRPr dirty="0" sz="1200" lang="en-US"/>
          </a:p>
        </p:txBody>
      </p:sp>
      <p:sp>
        <p:nvSpPr>
          <p:cNvPr id="1048596" name="Shape 7"/>
          <p:cNvSpPr/>
          <p:nvPr/>
        </p:nvSpPr>
        <p:spPr>
          <a:xfrm>
            <a:off x="6492240" y="2331720"/>
            <a:ext cx="548640" cy="548640"/>
          </a:xfrm>
          <a:prstGeom prst="ellipse"/>
          <a:solidFill>
            <a:srgbClr val="3A448F"/>
          </a:solidFill>
        </p:spPr>
      </p:sp>
      <p:pic>
        <p:nvPicPr>
          <p:cNvPr id="2097152" name="Image 0" descr="/home/claude/icons/engin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34886" y="2474366"/>
            <a:ext cx="263347" cy="263347"/>
          </a:xfrm>
          <a:prstGeom prst="rect"/>
        </p:spPr>
      </p:pic>
      <p:sp>
        <p:nvSpPr>
          <p:cNvPr id="1048597" name="Text 8"/>
          <p:cNvSpPr txBox="1"/>
          <p:nvPr/>
        </p:nvSpPr>
        <p:spPr>
          <a:xfrm>
            <a:off x="7223760" y="2331720"/>
            <a:ext cx="3931920" cy="5486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Specs</a:t>
            </a:r>
            <a:endParaRPr dirty="0" sz="1350" lang="en-US"/>
          </a:p>
        </p:txBody>
      </p:sp>
      <p:sp>
        <p:nvSpPr>
          <p:cNvPr id="1048598" name="Shape 9"/>
          <p:cNvSpPr/>
          <p:nvPr/>
        </p:nvSpPr>
        <p:spPr>
          <a:xfrm>
            <a:off x="6492240" y="3136392"/>
            <a:ext cx="548640" cy="548640"/>
          </a:xfrm>
          <a:prstGeom prst="ellipse"/>
          <a:solidFill>
            <a:srgbClr val="3A448F"/>
          </a:solidFill>
        </p:spPr>
      </p:sp>
      <p:pic>
        <p:nvPicPr>
          <p:cNvPr id="2097153" name="Image 1" descr="/home/claude/icons/dimensions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34886" y="3279038"/>
            <a:ext cx="263347" cy="263347"/>
          </a:xfrm>
          <a:prstGeom prst="rect"/>
        </p:spPr>
      </p:pic>
      <p:sp>
        <p:nvSpPr>
          <p:cNvPr id="1048599" name="Text 10"/>
          <p:cNvSpPr txBox="1"/>
          <p:nvPr/>
        </p:nvSpPr>
        <p:spPr>
          <a:xfrm>
            <a:off x="7223760" y="3136392"/>
            <a:ext cx="3931920" cy="5486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dirty="0" sz="1350" lang="en-US"/>
          </a:p>
        </p:txBody>
      </p:sp>
      <p:sp>
        <p:nvSpPr>
          <p:cNvPr id="1048600" name="Shape 11"/>
          <p:cNvSpPr/>
          <p:nvPr/>
        </p:nvSpPr>
        <p:spPr>
          <a:xfrm>
            <a:off x="6492240" y="3941064"/>
            <a:ext cx="548640" cy="548640"/>
          </a:xfrm>
          <a:prstGeom prst="ellipse"/>
          <a:solidFill>
            <a:srgbClr val="3A448F"/>
          </a:solidFill>
        </p:spPr>
      </p:sp>
      <p:pic>
        <p:nvPicPr>
          <p:cNvPr id="2097154" name="Image 2" descr="/home/claude/icons/fuel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634886" y="4083710"/>
            <a:ext cx="263347" cy="263347"/>
          </a:xfrm>
          <a:prstGeom prst="rect"/>
        </p:spPr>
      </p:pic>
      <p:sp>
        <p:nvSpPr>
          <p:cNvPr id="1048601" name="Text 12"/>
          <p:cNvSpPr txBox="1"/>
          <p:nvPr/>
        </p:nvSpPr>
        <p:spPr>
          <a:xfrm>
            <a:off x="7223760" y="3941064"/>
            <a:ext cx="3931920" cy="5486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Economy</a:t>
            </a:r>
            <a:endParaRPr dirty="0" sz="1350" lang="en-US"/>
          </a:p>
        </p:txBody>
      </p:sp>
      <p:sp>
        <p:nvSpPr>
          <p:cNvPr id="1048602" name="Shape 13"/>
          <p:cNvSpPr/>
          <p:nvPr/>
        </p:nvSpPr>
        <p:spPr>
          <a:xfrm>
            <a:off x="6492240" y="4745736"/>
            <a:ext cx="548640" cy="548640"/>
          </a:xfrm>
          <a:prstGeom prst="ellipse"/>
          <a:solidFill>
            <a:srgbClr val="3A448F"/>
          </a:solidFill>
        </p:spPr>
      </p:sp>
      <p:pic>
        <p:nvPicPr>
          <p:cNvPr id="2097155" name="Image 3" descr="/home/claude/icons/bran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634886" y="4888382"/>
            <a:ext cx="263347" cy="263347"/>
          </a:xfrm>
          <a:prstGeom prst="rect"/>
        </p:spPr>
      </p:pic>
      <p:sp>
        <p:nvSpPr>
          <p:cNvPr id="1048603" name="Text 14"/>
          <p:cNvSpPr txBox="1"/>
          <p:nvPr/>
        </p:nvSpPr>
        <p:spPr>
          <a:xfrm>
            <a:off x="7223760" y="4745736"/>
            <a:ext cx="3931920" cy="54864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</a:t>
            </a:r>
            <a:endParaRPr dirty="0" sz="1350" lang="en-US"/>
          </a:p>
        </p:txBody>
      </p:sp>
      <p:sp>
        <p:nvSpPr>
          <p:cNvPr id="1048604" name="Shape 15"/>
          <p:cNvSpPr/>
          <p:nvPr/>
        </p:nvSpPr>
        <p:spPr>
          <a:xfrm>
            <a:off x="6766560" y="2880360"/>
            <a:ext cx="0" cy="1911096"/>
          </a:xfrm>
          <a:prstGeom prst="line"/>
          <a:noFill/>
          <a:ln w="19050">
            <a:solidFill>
              <a:srgbClr val="5661A8"/>
            </a:solidFill>
            <a:prstDash val="dash"/>
          </a:ln>
        </p:spPr>
      </p:sp>
      <p:sp>
        <p:nvSpPr>
          <p:cNvPr id="1048605" name="Text 16"/>
          <p:cNvSpPr txBox="1"/>
          <p:nvPr/>
        </p:nvSpPr>
        <p:spPr>
          <a:xfrm>
            <a:off x="6492240" y="5596128"/>
            <a:ext cx="475488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1300" lang="en-US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Fair Market Price ($)</a:t>
            </a:r>
            <a:endParaRPr dirty="0" sz="1300" lang="en-US"/>
          </a:p>
        </p:txBody>
      </p:sp>
      <p:sp>
        <p:nvSpPr>
          <p:cNvPr id="1048606" name="Text 17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with Machine Learning</a:t>
            </a:r>
            <a:endParaRPr dirty="0" sz="900" lang="en-US"/>
          </a:p>
        </p:txBody>
      </p:sp>
      <p:sp>
        <p:nvSpPr>
          <p:cNvPr id="1048607" name="Text 18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Feature Engineering</a:t>
            </a:r>
            <a:endParaRPr dirty="0" sz="3200" lang="en-US"/>
          </a:p>
        </p:txBody>
      </p:sp>
      <p:sp>
        <p:nvSpPr>
          <p:cNvPr id="1048612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noisy raw records into an analysis-ready dataset</a:t>
            </a:r>
            <a:endParaRPr dirty="0" sz="1400" lang="en-US"/>
          </a:p>
        </p:txBody>
      </p:sp>
      <p:sp>
        <p:nvSpPr>
          <p:cNvPr id="1048613" name="Shape 2"/>
          <p:cNvSpPr/>
          <p:nvPr/>
        </p:nvSpPr>
        <p:spPr>
          <a:xfrm>
            <a:off x="64008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14" name="Text 3"/>
          <p:cNvSpPr txBox="1"/>
          <p:nvPr/>
        </p:nvSpPr>
        <p:spPr>
          <a:xfrm>
            <a:off x="868680" y="1673352"/>
            <a:ext cx="27889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dirty="0" sz="2800" lang="en-US"/>
          </a:p>
        </p:txBody>
      </p:sp>
      <p:sp>
        <p:nvSpPr>
          <p:cNvPr id="1048615" name="Text 4"/>
          <p:cNvSpPr txBox="1"/>
          <p:nvPr/>
        </p:nvSpPr>
        <p:spPr>
          <a:xfrm>
            <a:off x="868680" y="2194560"/>
            <a:ext cx="278892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samples</a:t>
            </a:r>
            <a:endParaRPr dirty="0" sz="1150" lang="en-US"/>
          </a:p>
        </p:txBody>
      </p:sp>
      <p:sp>
        <p:nvSpPr>
          <p:cNvPr id="1048616" name="Shape 5"/>
          <p:cNvSpPr/>
          <p:nvPr/>
        </p:nvSpPr>
        <p:spPr>
          <a:xfrm>
            <a:off x="411480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17" name="Text 6"/>
          <p:cNvSpPr txBox="1"/>
          <p:nvPr/>
        </p:nvSpPr>
        <p:spPr>
          <a:xfrm>
            <a:off x="4343400" y="1673352"/>
            <a:ext cx="27889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dirty="0" sz="2800" lang="en-US"/>
          </a:p>
        </p:txBody>
      </p:sp>
      <p:sp>
        <p:nvSpPr>
          <p:cNvPr id="1048618" name="Text 7"/>
          <p:cNvSpPr txBox="1"/>
          <p:nvPr/>
        </p:nvSpPr>
        <p:spPr>
          <a:xfrm>
            <a:off x="4343400" y="2194560"/>
            <a:ext cx="278892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dirty="0" sz="1150" lang="en-US"/>
          </a:p>
        </p:txBody>
      </p:sp>
      <p:sp>
        <p:nvSpPr>
          <p:cNvPr id="1048619" name="Shape 8"/>
          <p:cNvSpPr/>
          <p:nvPr/>
        </p:nvSpPr>
        <p:spPr>
          <a:xfrm>
            <a:off x="7589520" y="160020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20" name="Text 9"/>
          <p:cNvSpPr txBox="1"/>
          <p:nvPr/>
        </p:nvSpPr>
        <p:spPr>
          <a:xfrm>
            <a:off x="7818120" y="1673352"/>
            <a:ext cx="2788920" cy="5029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28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dirty="0" sz="2800" lang="en-US"/>
          </a:p>
        </p:txBody>
      </p:sp>
      <p:sp>
        <p:nvSpPr>
          <p:cNvPr id="1048621" name="Text 10"/>
          <p:cNvSpPr txBox="1"/>
          <p:nvPr/>
        </p:nvSpPr>
        <p:spPr>
          <a:xfrm>
            <a:off x="7818120" y="2194560"/>
            <a:ext cx="278892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1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typos / nulls</a:t>
            </a:r>
            <a:endParaRPr dirty="0" sz="1150" lang="en-US"/>
          </a:p>
        </p:txBody>
      </p:sp>
      <p:sp>
        <p:nvSpPr>
          <p:cNvPr id="1048622" name="Shape 11"/>
          <p:cNvSpPr/>
          <p:nvPr/>
        </p:nvSpPr>
        <p:spPr>
          <a:xfrm>
            <a:off x="640080" y="288036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</p:spPr>
      </p:sp>
      <p:sp>
        <p:nvSpPr>
          <p:cNvPr id="1048623" name="Text 12"/>
          <p:cNvSpPr txBox="1"/>
          <p:nvPr/>
        </p:nvSpPr>
        <p:spPr>
          <a:xfrm>
            <a:off x="914400" y="3035808"/>
            <a:ext cx="54864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50" kern="0" lang="en-US" spc="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 (CarName field)</a:t>
            </a:r>
            <a:endParaRPr dirty="0" sz="115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914400" y="3401568"/>
          <a:ext cx="5486400" cy="96012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</a:tblGrid>
              <a:tr h="24003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CADCFC"/>
                          </a:solidFill>
                        </a:rPr>
                        <a:t>Raw CarName</a:t>
                      </a:r>
                      <a:endParaRPr dirty="0" sz="110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00" lang="en-US">
                          <a:solidFill>
                            <a:srgbClr val="CADCFC"/>
                          </a:solidFill>
                        </a:rPr>
                        <a:t>Cleaned Brand</a:t>
                      </a:r>
                      <a:endParaRPr dirty="0" sz="110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003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50" lang="en-US">
                          <a:solidFill>
                            <a:srgbClr val="FFFFFF"/>
                          </a:solidFill>
                        </a:rPr>
                        <a:t>vokswagen rabbit</a:t>
                      </a:r>
                      <a:endParaRPr dirty="0" sz="115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50" lang="en-US">
                          <a:solidFill>
                            <a:srgbClr val="E8743B"/>
                          </a:solidFill>
                        </a:rPr>
                        <a:t>volkswagen</a:t>
                      </a:r>
                      <a:endParaRPr dirty="0" sz="115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003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50" lang="en-US">
                          <a:solidFill>
                            <a:srgbClr val="FFFFFF"/>
                          </a:solidFill>
                        </a:rPr>
                        <a:t>maxda glc deluxe</a:t>
                      </a:r>
                      <a:endParaRPr dirty="0" sz="115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50" lang="en-US">
                          <a:solidFill>
                            <a:srgbClr val="E8743B"/>
                          </a:solidFill>
                        </a:rPr>
                        <a:t>mazda</a:t>
                      </a:r>
                      <a:endParaRPr dirty="0" sz="115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0030"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dirty="0" sz="1150" lang="en-US">
                          <a:solidFill>
                            <a:srgbClr val="FFFFFF"/>
                          </a:solidFill>
                        </a:rPr>
                        <a:t>toyouta corolla</a:t>
                      </a:r>
                      <a:endParaRPr dirty="0" sz="115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p>
                      <a:pPr indent="0" marL="0">
                        <a:buNone/>
                      </a:pPr>
                      <a:r>
                        <a:rPr b="1" dirty="0" sz="1150" lang="en-US">
                          <a:solidFill>
                            <a:srgbClr val="E8743B"/>
                          </a:solidFill>
                        </a:rPr>
                        <a:t>toyota</a:t>
                      </a:r>
                      <a:endParaRPr dirty="0" sz="1150" lang="en-US"/>
                    </a:p>
                  </a:txBody>
                  <a:tcPr marL="76200" marR="762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48624" name="Text 13"/>
          <p:cNvSpPr txBox="1"/>
          <p:nvPr/>
        </p:nvSpPr>
        <p:spPr>
          <a:xfrm>
            <a:off x="6675120" y="3063240"/>
            <a:ext cx="4617720" cy="12801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spcAft>
                <a:spcPts val="600"/>
              </a:spcAft>
              <a:buNone/>
            </a:pPr>
            <a:r>
              <a:rPr b="1"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parsing</a:t>
            </a:r>
            <a:endParaRPr dirty="0" sz="1150" lang="en-US"/>
          </a:p>
          <a:p>
            <a:pPr algn="l" indent="0" marL="0">
              <a:spcAft>
                <a:spcPts val="1000"/>
              </a:spcAft>
              <a:buNone/>
            </a:pPr>
            <a:r>
              <a:rPr dirty="0" sz="11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the brand token from free-text CarName strings.</a:t>
            </a:r>
            <a:endParaRPr dirty="0" sz="1150" lang="en-US"/>
          </a:p>
          <a:p>
            <a:pPr algn="l" indent="0" marL="0">
              <a:spcAft>
                <a:spcPts val="600"/>
              </a:spcAft>
              <a:buNone/>
            </a:pPr>
            <a:r>
              <a:rPr b="1"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mapping</a:t>
            </a:r>
            <a:endParaRPr dirty="0" sz="1150" lang="en-US"/>
          </a:p>
          <a:p>
            <a:pPr algn="l" indent="0" marL="0">
              <a:buNone/>
            </a:pPr>
            <a:r>
              <a:rPr dirty="0" sz="11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known typos and standardized spellings.</a:t>
            </a:r>
            <a:endParaRPr dirty="0" sz="1150" lang="en-US"/>
          </a:p>
        </p:txBody>
      </p:sp>
      <p:sp>
        <p:nvSpPr>
          <p:cNvPr id="1048625" name="Shape 14"/>
          <p:cNvSpPr/>
          <p:nvPr/>
        </p:nvSpPr>
        <p:spPr>
          <a:xfrm>
            <a:off x="640080" y="4709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26" name="Text 15"/>
          <p:cNvSpPr txBox="1"/>
          <p:nvPr/>
        </p:nvSpPr>
        <p:spPr>
          <a:xfrm>
            <a:off x="914400" y="486460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Integer Mapping</a:t>
            </a:r>
            <a:endParaRPr dirty="0" sz="1400" lang="en-US"/>
          </a:p>
        </p:txBody>
      </p:sp>
      <p:sp>
        <p:nvSpPr>
          <p:cNvPr id="1048627" name="Text 16"/>
          <p:cNvSpPr txBox="1"/>
          <p:nvPr/>
        </p:nvSpPr>
        <p:spPr>
          <a:xfrm>
            <a:off x="914400" y="5230368"/>
            <a:ext cx="4754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Word-form counts like "four" (doors) and "six" (cylinders) mapped to numeric integers for model compatibility.</a:t>
            </a:r>
            <a:endParaRPr dirty="0" sz="1200" lang="en-US"/>
          </a:p>
        </p:txBody>
      </p:sp>
      <p:sp>
        <p:nvSpPr>
          <p:cNvPr id="1048628" name="Shape 17"/>
          <p:cNvSpPr/>
          <p:nvPr/>
        </p:nvSpPr>
        <p:spPr>
          <a:xfrm>
            <a:off x="6217920" y="4709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29" name="Text 18"/>
          <p:cNvSpPr txBox="1"/>
          <p:nvPr/>
        </p:nvSpPr>
        <p:spPr>
          <a:xfrm>
            <a:off x="6492240" y="4864608"/>
            <a:ext cx="47548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dirty="0" sz="1400" lang="en-US"/>
          </a:p>
        </p:txBody>
      </p:sp>
      <p:sp>
        <p:nvSpPr>
          <p:cNvPr id="1048630" name="Text 19"/>
          <p:cNvSpPr txBox="1"/>
          <p:nvPr/>
        </p:nvSpPr>
        <p:spPr>
          <a:xfrm>
            <a:off x="6492240" y="5230368"/>
            <a:ext cx="4754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numeric, standardized feature set with zero categorical noise, ready for encoding and scaling.</a:t>
            </a:r>
            <a:endParaRPr dirty="0" sz="1200" lang="en-US"/>
          </a:p>
        </p:txBody>
      </p:sp>
      <p:sp>
        <p:nvSpPr>
          <p:cNvPr id="1048631" name="Text 20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with Machine Learning</a:t>
            </a:r>
            <a:endParaRPr dirty="0" sz="900" lang="en-US"/>
          </a:p>
        </p:txBody>
      </p:sp>
      <p:sp>
        <p:nvSpPr>
          <p:cNvPr id="1048632" name="Text 21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dirty="0" sz="3200" lang="en-US"/>
          </a:p>
        </p:txBody>
      </p:sp>
      <p:sp>
        <p:nvSpPr>
          <p:cNvPr id="1048637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leakage-safe path from raw table to model-ready matrix</a:t>
            </a:r>
            <a:endParaRPr dirty="0" sz="1400" lang="en-US"/>
          </a:p>
        </p:txBody>
      </p:sp>
      <p:sp>
        <p:nvSpPr>
          <p:cNvPr id="1048638" name="Shape 2"/>
          <p:cNvSpPr/>
          <p:nvPr/>
        </p:nvSpPr>
        <p:spPr>
          <a:xfrm>
            <a:off x="832104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048639" name="Text 3"/>
          <p:cNvSpPr txBox="1"/>
          <p:nvPr/>
        </p:nvSpPr>
        <p:spPr>
          <a:xfrm>
            <a:off x="996696" y="2423160"/>
            <a:ext cx="1636776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56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2000" lang="en-US"/>
          </a:p>
        </p:txBody>
      </p:sp>
      <p:sp>
        <p:nvSpPr>
          <p:cNvPr id="1048640" name="Text 4"/>
          <p:cNvSpPr txBox="1"/>
          <p:nvPr/>
        </p:nvSpPr>
        <p:spPr>
          <a:xfrm>
            <a:off x="996696" y="2907792"/>
            <a:ext cx="1636776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dirty="0" sz="1450" lang="en-US"/>
          </a:p>
        </p:txBody>
      </p:sp>
      <p:sp>
        <p:nvSpPr>
          <p:cNvPr id="1048641" name="Text 5"/>
          <p:cNvSpPr txBox="1"/>
          <p:nvPr/>
        </p:nvSpPr>
        <p:spPr>
          <a:xfrm>
            <a:off x="996696" y="3474720"/>
            <a:ext cx="1636776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Typo-corrected, numeric-mapped features</a:t>
            </a:r>
            <a:endParaRPr dirty="0" sz="1050" lang="en-US"/>
          </a:p>
        </p:txBody>
      </p:sp>
      <p:sp>
        <p:nvSpPr>
          <p:cNvPr id="1048642" name="Shape 6"/>
          <p:cNvSpPr/>
          <p:nvPr/>
        </p:nvSpPr>
        <p:spPr>
          <a:xfrm rot="5400000">
            <a:off x="2802636" y="3255264"/>
            <a:ext cx="164592" cy="164592"/>
          </a:xfrm>
          <a:prstGeom prst="triangle"/>
          <a:solidFill>
            <a:srgbClr val="9CA6D9"/>
          </a:solidFill>
        </p:spPr>
      </p:sp>
      <p:sp>
        <p:nvSpPr>
          <p:cNvPr id="1048643" name="Shape 7"/>
          <p:cNvSpPr/>
          <p:nvPr/>
        </p:nvSpPr>
        <p:spPr>
          <a:xfrm>
            <a:off x="297180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048644" name="Text 8"/>
          <p:cNvSpPr txBox="1"/>
          <p:nvPr/>
        </p:nvSpPr>
        <p:spPr>
          <a:xfrm>
            <a:off x="3136392" y="2423160"/>
            <a:ext cx="1636776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56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2000" lang="en-US"/>
          </a:p>
        </p:txBody>
      </p:sp>
      <p:sp>
        <p:nvSpPr>
          <p:cNvPr id="1048645" name="Text 9"/>
          <p:cNvSpPr txBox="1"/>
          <p:nvPr/>
        </p:nvSpPr>
        <p:spPr>
          <a:xfrm>
            <a:off x="3136392" y="2907792"/>
            <a:ext cx="1636776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dirty="0" sz="1450" lang="en-US"/>
          </a:p>
        </p:txBody>
      </p:sp>
      <p:sp>
        <p:nvSpPr>
          <p:cNvPr id="1048646" name="Text 10"/>
          <p:cNvSpPr txBox="1"/>
          <p:nvPr/>
        </p:nvSpPr>
        <p:spPr>
          <a:xfrm>
            <a:off x="3136392" y="3474720"/>
            <a:ext cx="1636776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avoids multicollinearity</a:t>
            </a:r>
            <a:endParaRPr dirty="0" sz="1050" lang="en-US"/>
          </a:p>
        </p:txBody>
      </p:sp>
      <p:sp>
        <p:nvSpPr>
          <p:cNvPr id="1048647" name="Shape 11"/>
          <p:cNvSpPr/>
          <p:nvPr/>
        </p:nvSpPr>
        <p:spPr>
          <a:xfrm rot="5400000">
            <a:off x="4942332" y="3255264"/>
            <a:ext cx="164592" cy="164592"/>
          </a:xfrm>
          <a:prstGeom prst="triangle"/>
          <a:solidFill>
            <a:srgbClr val="9CA6D9"/>
          </a:solidFill>
        </p:spPr>
      </p:sp>
      <p:sp>
        <p:nvSpPr>
          <p:cNvPr id="1048648" name="Shape 12"/>
          <p:cNvSpPr/>
          <p:nvPr/>
        </p:nvSpPr>
        <p:spPr>
          <a:xfrm>
            <a:off x="5111496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048649" name="Text 13"/>
          <p:cNvSpPr txBox="1"/>
          <p:nvPr/>
        </p:nvSpPr>
        <p:spPr>
          <a:xfrm>
            <a:off x="5276088" y="2423160"/>
            <a:ext cx="1636776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56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2000" lang="en-US"/>
          </a:p>
        </p:txBody>
      </p:sp>
      <p:sp>
        <p:nvSpPr>
          <p:cNvPr id="1048650" name="Text 14"/>
          <p:cNvSpPr txBox="1"/>
          <p:nvPr/>
        </p:nvSpPr>
        <p:spPr>
          <a:xfrm>
            <a:off x="5276088" y="2907792"/>
            <a:ext cx="1636776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dirty="0" sz="1450" lang="en-US"/>
          </a:p>
        </p:txBody>
      </p:sp>
      <p:sp>
        <p:nvSpPr>
          <p:cNvPr id="1048651" name="Text 15"/>
          <p:cNvSpPr txBox="1"/>
          <p:nvPr/>
        </p:nvSpPr>
        <p:spPr>
          <a:xfrm>
            <a:off x="5276088" y="3474720"/>
            <a:ext cx="1636776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stratified sampling</a:t>
            </a:r>
            <a:endParaRPr dirty="0" sz="1050" lang="en-US"/>
          </a:p>
        </p:txBody>
      </p:sp>
      <p:sp>
        <p:nvSpPr>
          <p:cNvPr id="1048652" name="Shape 16"/>
          <p:cNvSpPr/>
          <p:nvPr/>
        </p:nvSpPr>
        <p:spPr>
          <a:xfrm rot="5400000">
            <a:off x="7082028" y="3255264"/>
            <a:ext cx="164592" cy="164592"/>
          </a:xfrm>
          <a:prstGeom prst="triangle"/>
          <a:solidFill>
            <a:srgbClr val="9CA6D9"/>
          </a:solidFill>
        </p:spPr>
      </p:sp>
      <p:sp>
        <p:nvSpPr>
          <p:cNvPr id="1048653" name="Shape 17"/>
          <p:cNvSpPr/>
          <p:nvPr/>
        </p:nvSpPr>
        <p:spPr>
          <a:xfrm>
            <a:off x="7251192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048654" name="Text 18"/>
          <p:cNvSpPr txBox="1"/>
          <p:nvPr/>
        </p:nvSpPr>
        <p:spPr>
          <a:xfrm>
            <a:off x="7415784" y="2423160"/>
            <a:ext cx="1636776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56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2000" lang="en-US"/>
          </a:p>
        </p:txBody>
      </p:sp>
      <p:sp>
        <p:nvSpPr>
          <p:cNvPr id="1048655" name="Text 19"/>
          <p:cNvSpPr txBox="1"/>
          <p:nvPr/>
        </p:nvSpPr>
        <p:spPr>
          <a:xfrm>
            <a:off x="7415784" y="2907792"/>
            <a:ext cx="1636776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Scale</a:t>
            </a:r>
            <a:endParaRPr dirty="0" sz="1450" lang="en-US"/>
          </a:p>
        </p:txBody>
      </p:sp>
      <p:sp>
        <p:nvSpPr>
          <p:cNvPr id="1048656" name="Text 20"/>
          <p:cNvSpPr txBox="1"/>
          <p:nvPr/>
        </p:nvSpPr>
        <p:spPr>
          <a:xfrm>
            <a:off x="7415784" y="3474720"/>
            <a:ext cx="1636776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 — no leakage</a:t>
            </a:r>
            <a:endParaRPr dirty="0" sz="1050" lang="en-US"/>
          </a:p>
        </p:txBody>
      </p:sp>
      <p:sp>
        <p:nvSpPr>
          <p:cNvPr id="1048657" name="Shape 21"/>
          <p:cNvSpPr/>
          <p:nvPr/>
        </p:nvSpPr>
        <p:spPr>
          <a:xfrm rot="5400000">
            <a:off x="9221724" y="3255264"/>
            <a:ext cx="164592" cy="164592"/>
          </a:xfrm>
          <a:prstGeom prst="triangle"/>
          <a:solidFill>
            <a:srgbClr val="9CA6D9"/>
          </a:solidFill>
        </p:spPr>
      </p:sp>
      <p:sp>
        <p:nvSpPr>
          <p:cNvPr id="1048658" name="Shape 22"/>
          <p:cNvSpPr/>
          <p:nvPr/>
        </p:nvSpPr>
        <p:spPr>
          <a:xfrm>
            <a:off x="9390888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8743B"/>
          </a:solidFill>
        </p:spPr>
      </p:sp>
      <p:sp>
        <p:nvSpPr>
          <p:cNvPr id="1048659" name="Text 23"/>
          <p:cNvSpPr txBox="1"/>
          <p:nvPr/>
        </p:nvSpPr>
        <p:spPr>
          <a:xfrm>
            <a:off x="9555480" y="2423160"/>
            <a:ext cx="1636776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2000" lang="en-US"/>
          </a:p>
        </p:txBody>
      </p:sp>
      <p:sp>
        <p:nvSpPr>
          <p:cNvPr id="1048660" name="Text 24"/>
          <p:cNvSpPr txBox="1"/>
          <p:nvPr/>
        </p:nvSpPr>
        <p:spPr>
          <a:xfrm>
            <a:off x="9555480" y="2907792"/>
            <a:ext cx="1636776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4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dirty="0" sz="1450" lang="en-US"/>
          </a:p>
        </p:txBody>
      </p:sp>
      <p:sp>
        <p:nvSpPr>
          <p:cNvPr id="1048661" name="Text 25"/>
          <p:cNvSpPr txBox="1"/>
          <p:nvPr/>
        </p:nvSpPr>
        <p:spPr>
          <a:xfrm>
            <a:off x="9555480" y="3474720"/>
            <a:ext cx="1636776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Gradient Boosting</a:t>
            </a:r>
            <a:endParaRPr dirty="0" sz="1050" lang="en-US"/>
          </a:p>
        </p:txBody>
      </p:sp>
      <p:sp>
        <p:nvSpPr>
          <p:cNvPr id="1048662" name="Shape 26"/>
          <p:cNvSpPr/>
          <p:nvPr/>
        </p:nvSpPr>
        <p:spPr>
          <a:xfrm>
            <a:off x="832104" y="4709160"/>
            <a:ext cx="1052474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63" name="Text 27"/>
          <p:cNvSpPr txBox="1"/>
          <p:nvPr/>
        </p:nvSpPr>
        <p:spPr>
          <a:xfrm>
            <a:off x="1106424" y="4892040"/>
            <a:ext cx="9976104" cy="9601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b="1" dirty="0" sz="13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 after the split?  </a:t>
            </a:r>
            <a:r>
              <a:rPr dirty="0" sz="12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StandardScaler on the full dataset would let test-set statistics leak into training — inflating validation performance beyond what the model would achieve on truly unseen vehicles.</a:t>
            </a:r>
            <a:endParaRPr dirty="0" sz="1300" lang="en-US"/>
          </a:p>
        </p:txBody>
      </p:sp>
      <p:sp>
        <p:nvSpPr>
          <p:cNvPr id="1048664" name="Text 28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with Machine Learning</a:t>
            </a:r>
            <a:endParaRPr dirty="0" sz="900" lang="en-US"/>
          </a:p>
        </p:txBody>
      </p:sp>
      <p:sp>
        <p:nvSpPr>
          <p:cNvPr id="1048665" name="Text 29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Benchmarking</a:t>
            </a:r>
            <a:endParaRPr dirty="0" sz="3200" lang="en-US"/>
          </a:p>
        </p:txBody>
      </p:sp>
      <p:sp>
        <p:nvSpPr>
          <p:cNvPr id="1048670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vs. Gradient Boosting on held-out test data</a:t>
            </a:r>
            <a:endParaRPr dirty="0" sz="1400" lang="en-US"/>
          </a:p>
        </p:txBody>
      </p:sp>
      <p:graphicFrame>
        <p:nvGraphicFramePr>
          <p:cNvPr id="4194305" name="Chart 0" descr=""/>
          <p:cNvGraphicFramePr>
            <a:graphicFrameLocks/>
          </p:cNvGraphicFramePr>
          <p:nvPr/>
        </p:nvGraphicFramePr>
        <p:xfrm>
          <a:off x="640080" y="160020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194306" name="Chart 1" descr=""/>
          <p:cNvGraphicFramePr>
            <a:graphicFrameLocks/>
          </p:cNvGraphicFramePr>
          <p:nvPr/>
        </p:nvGraphicFramePr>
        <p:xfrm>
          <a:off x="6035040" y="160020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48671" name="Shape 2"/>
          <p:cNvSpPr/>
          <p:nvPr/>
        </p:nvSpPr>
        <p:spPr>
          <a:xfrm>
            <a:off x="640080" y="45720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</p:spPr>
      </p:sp>
      <p:sp>
        <p:nvSpPr>
          <p:cNvPr id="1048672" name="Text 3"/>
          <p:cNvSpPr txBox="1"/>
          <p:nvPr/>
        </p:nvSpPr>
        <p:spPr>
          <a:xfrm>
            <a:off x="914400" y="4736592"/>
            <a:ext cx="54864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10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RANDOM FOREST REGRESSOR</a:t>
            </a:r>
            <a:endParaRPr dirty="0" sz="1200" lang="en-US"/>
          </a:p>
        </p:txBody>
      </p:sp>
      <p:sp>
        <p:nvSpPr>
          <p:cNvPr id="1048673" name="Text 4"/>
          <p:cNvSpPr txBox="1"/>
          <p:nvPr/>
        </p:nvSpPr>
        <p:spPr>
          <a:xfrm>
            <a:off x="914400" y="5074920"/>
            <a:ext cx="10332720" cy="8686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ct val="115000"/>
              </a:lnSpc>
              <a:buNone/>
            </a:pPr>
            <a:r>
              <a:rPr dirty="0" sz="1250" lang="en-US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Gradient Boosting across all three metrics on this dataset. With only 205 samples, bagging's variance reduction generalizes more reliably than boosting's sequential error-correction, which is more prone to overfitting on small data.</a:t>
            </a:r>
            <a:endParaRPr dirty="0" sz="1250" lang="en-US"/>
          </a:p>
        </p:txBody>
      </p:sp>
      <p:sp>
        <p:nvSpPr>
          <p:cNvPr id="1048674" name="Text 5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with Machine Learning</a:t>
            </a:r>
            <a:endParaRPr dirty="0" sz="900" lang="en-US"/>
          </a:p>
        </p:txBody>
      </p:sp>
      <p:sp>
        <p:nvSpPr>
          <p:cNvPr id="1048675" name="Text 6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Price?</a:t>
            </a:r>
            <a:endParaRPr dirty="0" sz="3200" lang="en-US"/>
          </a:p>
        </p:txBody>
      </p:sp>
      <p:sp>
        <p:nvSpPr>
          <p:cNvPr id="1048680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from the Random Forest Regressor</a:t>
            </a:r>
            <a:endParaRPr dirty="0" sz="1400" lang="en-US"/>
          </a:p>
        </p:txBody>
      </p:sp>
      <p:graphicFrame>
        <p:nvGraphicFramePr>
          <p:cNvPr id="4194307" name="Chart 0" descr=""/>
          <p:cNvGraphicFramePr>
            <a:graphicFrameLocks/>
          </p:cNvGraphicFramePr>
          <p:nvPr/>
        </p:nvGraphicFramePr>
        <p:xfrm>
          <a:off x="640080" y="160020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81" name="Shape 2"/>
          <p:cNvSpPr/>
          <p:nvPr/>
        </p:nvSpPr>
        <p:spPr>
          <a:xfrm>
            <a:off x="7589520" y="1600200"/>
            <a:ext cx="3931920" cy="850392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82" name="Shape 3"/>
          <p:cNvSpPr/>
          <p:nvPr/>
        </p:nvSpPr>
        <p:spPr>
          <a:xfrm>
            <a:off x="7772400" y="1737360"/>
            <a:ext cx="566928" cy="566928"/>
          </a:xfrm>
          <a:prstGeom prst="ellipse"/>
          <a:solidFill>
            <a:srgbClr val="1E2761"/>
          </a:solidFill>
        </p:spPr>
      </p:sp>
      <p:sp>
        <p:nvSpPr>
          <p:cNvPr id="1048683" name="Text 4"/>
          <p:cNvSpPr txBox="1"/>
          <p:nvPr/>
        </p:nvSpPr>
        <p:spPr>
          <a:xfrm>
            <a:off x="7772400" y="1737360"/>
            <a:ext cx="566928" cy="56692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dirty="0" sz="1300" lang="en-US"/>
          </a:p>
        </p:txBody>
      </p:sp>
      <p:sp>
        <p:nvSpPr>
          <p:cNvPr id="1048684" name="Text 5"/>
          <p:cNvSpPr txBox="1"/>
          <p:nvPr/>
        </p:nvSpPr>
        <p:spPr>
          <a:xfrm>
            <a:off x="8503920" y="1682496"/>
            <a:ext cx="2926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Size</a:t>
            </a:r>
            <a:endParaRPr dirty="0" sz="1350" lang="en-US"/>
          </a:p>
        </p:txBody>
      </p:sp>
      <p:sp>
        <p:nvSpPr>
          <p:cNvPr id="1048685" name="Text 6"/>
          <p:cNvSpPr txBox="1"/>
          <p:nvPr/>
        </p:nvSpPr>
        <p:spPr>
          <a:xfrm>
            <a:off x="8503920" y="1984248"/>
            <a:ext cx="292608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driver of predicted price</a:t>
            </a:r>
            <a:endParaRPr dirty="0" sz="1050" lang="en-US"/>
          </a:p>
        </p:txBody>
      </p:sp>
      <p:sp>
        <p:nvSpPr>
          <p:cNvPr id="1048686" name="Shape 7"/>
          <p:cNvSpPr/>
          <p:nvPr/>
        </p:nvSpPr>
        <p:spPr>
          <a:xfrm>
            <a:off x="7589520" y="2587752"/>
            <a:ext cx="3931920" cy="850392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87" name="Shape 8"/>
          <p:cNvSpPr/>
          <p:nvPr/>
        </p:nvSpPr>
        <p:spPr>
          <a:xfrm>
            <a:off x="7772400" y="2724912"/>
            <a:ext cx="566928" cy="566928"/>
          </a:xfrm>
          <a:prstGeom prst="ellipse"/>
          <a:solidFill>
            <a:srgbClr val="1E2761"/>
          </a:solidFill>
        </p:spPr>
      </p:sp>
      <p:sp>
        <p:nvSpPr>
          <p:cNvPr id="1048688" name="Text 9"/>
          <p:cNvSpPr txBox="1"/>
          <p:nvPr/>
        </p:nvSpPr>
        <p:spPr>
          <a:xfrm>
            <a:off x="7772400" y="2724912"/>
            <a:ext cx="566928" cy="56692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dirty="0" sz="1300" lang="en-US"/>
          </a:p>
        </p:txBody>
      </p:sp>
      <p:sp>
        <p:nvSpPr>
          <p:cNvPr id="1048689" name="Text 10"/>
          <p:cNvSpPr txBox="1"/>
          <p:nvPr/>
        </p:nvSpPr>
        <p:spPr>
          <a:xfrm>
            <a:off x="8503920" y="2670048"/>
            <a:ext cx="2926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 Weight</a:t>
            </a:r>
            <a:endParaRPr dirty="0" sz="1350" lang="en-US"/>
          </a:p>
        </p:txBody>
      </p:sp>
      <p:sp>
        <p:nvSpPr>
          <p:cNvPr id="1048690" name="Text 11"/>
          <p:cNvSpPr txBox="1"/>
          <p:nvPr/>
        </p:nvSpPr>
        <p:spPr>
          <a:xfrm>
            <a:off x="8503920" y="2971800"/>
            <a:ext cx="292608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with build quality &amp; materials</a:t>
            </a:r>
            <a:endParaRPr dirty="0" sz="1050" lang="en-US"/>
          </a:p>
        </p:txBody>
      </p:sp>
      <p:sp>
        <p:nvSpPr>
          <p:cNvPr id="1048691" name="Shape 12"/>
          <p:cNvSpPr/>
          <p:nvPr/>
        </p:nvSpPr>
        <p:spPr>
          <a:xfrm>
            <a:off x="7589520" y="3575304"/>
            <a:ext cx="3931920" cy="850392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92" name="Shape 13"/>
          <p:cNvSpPr/>
          <p:nvPr/>
        </p:nvSpPr>
        <p:spPr>
          <a:xfrm>
            <a:off x="7772400" y="3712464"/>
            <a:ext cx="566928" cy="566928"/>
          </a:xfrm>
          <a:prstGeom prst="ellipse"/>
          <a:solidFill>
            <a:srgbClr val="1E2761"/>
          </a:solidFill>
        </p:spPr>
      </p:sp>
      <p:sp>
        <p:nvSpPr>
          <p:cNvPr id="1048693" name="Text 14"/>
          <p:cNvSpPr txBox="1"/>
          <p:nvPr/>
        </p:nvSpPr>
        <p:spPr>
          <a:xfrm>
            <a:off x="7772400" y="3712464"/>
            <a:ext cx="566928" cy="56692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dirty="0" sz="1300" lang="en-US"/>
          </a:p>
        </p:txBody>
      </p:sp>
      <p:sp>
        <p:nvSpPr>
          <p:cNvPr id="1048694" name="Text 15"/>
          <p:cNvSpPr txBox="1"/>
          <p:nvPr/>
        </p:nvSpPr>
        <p:spPr>
          <a:xfrm>
            <a:off x="8503920" y="3657600"/>
            <a:ext cx="2926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</a:t>
            </a:r>
            <a:endParaRPr dirty="0" sz="1350" lang="en-US"/>
          </a:p>
        </p:txBody>
      </p:sp>
      <p:sp>
        <p:nvSpPr>
          <p:cNvPr id="1048695" name="Text 16"/>
          <p:cNvSpPr txBox="1"/>
          <p:nvPr/>
        </p:nvSpPr>
        <p:spPr>
          <a:xfrm>
            <a:off x="8503920" y="3959352"/>
            <a:ext cx="292608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premium across segments</a:t>
            </a:r>
            <a:endParaRPr dirty="0" sz="1050" lang="en-US"/>
          </a:p>
        </p:txBody>
      </p:sp>
      <p:sp>
        <p:nvSpPr>
          <p:cNvPr id="1048696" name="Shape 17"/>
          <p:cNvSpPr/>
          <p:nvPr/>
        </p:nvSpPr>
        <p:spPr>
          <a:xfrm>
            <a:off x="7589520" y="4562856"/>
            <a:ext cx="3931920" cy="850392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48697" name="Shape 18"/>
          <p:cNvSpPr/>
          <p:nvPr/>
        </p:nvSpPr>
        <p:spPr>
          <a:xfrm>
            <a:off x="7772400" y="4700016"/>
            <a:ext cx="566928" cy="566928"/>
          </a:xfrm>
          <a:prstGeom prst="ellipse"/>
          <a:solidFill>
            <a:srgbClr val="1E2761"/>
          </a:solidFill>
        </p:spPr>
      </p:sp>
      <p:sp>
        <p:nvSpPr>
          <p:cNvPr id="1048698" name="Text 19"/>
          <p:cNvSpPr txBox="1"/>
          <p:nvPr/>
        </p:nvSpPr>
        <p:spPr>
          <a:xfrm>
            <a:off x="7772400" y="4700016"/>
            <a:ext cx="566928" cy="56692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dirty="0" sz="1300" lang="en-US"/>
          </a:p>
        </p:txBody>
      </p:sp>
      <p:sp>
        <p:nvSpPr>
          <p:cNvPr id="1048699" name="Text 20"/>
          <p:cNvSpPr txBox="1"/>
          <p:nvPr/>
        </p:nvSpPr>
        <p:spPr>
          <a:xfrm>
            <a:off x="8503920" y="4645152"/>
            <a:ext cx="292608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Goodwill</a:t>
            </a:r>
            <a:endParaRPr dirty="0" sz="1350" lang="en-US"/>
          </a:p>
        </p:txBody>
      </p:sp>
      <p:sp>
        <p:nvSpPr>
          <p:cNvPr id="1048700" name="Text 21"/>
          <p:cNvSpPr txBox="1"/>
          <p:nvPr/>
        </p:nvSpPr>
        <p:spPr>
          <a:xfrm>
            <a:off x="8503920" y="4946904"/>
            <a:ext cx="2926080" cy="411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marques command a price lift</a:t>
            </a:r>
            <a:endParaRPr dirty="0" sz="1050" lang="en-US"/>
          </a:p>
        </p:txBody>
      </p:sp>
      <p:sp>
        <p:nvSpPr>
          <p:cNvPr id="1048701" name="Text 22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with Machine Learning</a:t>
            </a:r>
            <a:endParaRPr dirty="0" sz="900" lang="en-US"/>
          </a:p>
        </p:txBody>
      </p:sp>
      <p:sp>
        <p:nvSpPr>
          <p:cNvPr id="1048702" name="Text 23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ext 0"/>
          <p:cNvSpPr txBox="1"/>
          <p:nvPr/>
        </p:nvSpPr>
        <p:spPr>
          <a:xfrm>
            <a:off x="640080" y="457200"/>
            <a:ext cx="10058400" cy="64008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b="1" dirty="0" sz="3200" lang="en-US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dirty="0" sz="3200" lang="en-US"/>
          </a:p>
        </p:txBody>
      </p:sp>
      <p:sp>
        <p:nvSpPr>
          <p:cNvPr id="1048707" name="Text 1"/>
          <p:cNvSpPr txBox="1"/>
          <p:nvPr/>
        </p:nvSpPr>
        <p:spPr>
          <a:xfrm>
            <a:off x="640080" y="1024128"/>
            <a:ext cx="10058400" cy="3657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400" i="1"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 that kept the pipeline robust</a:t>
            </a:r>
            <a:endParaRPr dirty="0" sz="1400" lang="en-US"/>
          </a:p>
        </p:txBody>
      </p:sp>
      <p:sp>
        <p:nvSpPr>
          <p:cNvPr id="1048708" name="Shape 2"/>
          <p:cNvSpPr/>
          <p:nvPr/>
        </p:nvSpPr>
        <p:spPr>
          <a:xfrm>
            <a:off x="640080" y="1691640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0C4B4"/>
            </a:solidFill>
            <a:prstDash val="solid"/>
          </a:ln>
        </p:spPr>
      </p:sp>
      <p:sp>
        <p:nvSpPr>
          <p:cNvPr id="1048709" name="Shape 3"/>
          <p:cNvSpPr/>
          <p:nvPr/>
        </p:nvSpPr>
        <p:spPr>
          <a:xfrm>
            <a:off x="868680" y="1874520"/>
            <a:ext cx="457200" cy="457200"/>
          </a:xfrm>
          <a:prstGeom prst="ellipse"/>
          <a:solidFill>
            <a:srgbClr val="D9573F"/>
          </a:solidFill>
        </p:spPr>
      </p:sp>
      <p:pic>
        <p:nvPicPr>
          <p:cNvPr id="2097156" name="Image 0" descr="/home/claude/icons/problem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87552" y="1993392"/>
            <a:ext cx="219456" cy="219456"/>
          </a:xfrm>
          <a:prstGeom prst="rect"/>
        </p:spPr>
      </p:pic>
      <p:sp>
        <p:nvSpPr>
          <p:cNvPr id="1048710" name="Text 4"/>
          <p:cNvSpPr txBox="1"/>
          <p:nvPr/>
        </p:nvSpPr>
        <p:spPr>
          <a:xfrm>
            <a:off x="1481328" y="1865376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D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dirty="0" sz="1050" lang="en-US"/>
          </a:p>
        </p:txBody>
      </p:sp>
      <p:sp>
        <p:nvSpPr>
          <p:cNvPr id="1048711" name="Text 5"/>
          <p:cNvSpPr txBox="1"/>
          <p:nvPr/>
        </p:nvSpPr>
        <p:spPr>
          <a:xfrm>
            <a:off x="1481328" y="2148840"/>
            <a:ext cx="42519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string data &amp; inconsistent brand spellings (e.g. “vokswagen”)</a:t>
            </a:r>
            <a:endParaRPr dirty="0" sz="1200" lang="en-US"/>
          </a:p>
        </p:txBody>
      </p:sp>
      <p:sp>
        <p:nvSpPr>
          <p:cNvPr id="1048712" name="Shape 6"/>
          <p:cNvSpPr/>
          <p:nvPr/>
        </p:nvSpPr>
        <p:spPr>
          <a:xfrm rot="5400000">
            <a:off x="6053328" y="2240280"/>
            <a:ext cx="201168" cy="201168"/>
          </a:xfrm>
          <a:prstGeom prst="triangle"/>
          <a:solidFill>
            <a:srgbClr val="9CA6D9"/>
          </a:solidFill>
        </p:spPr>
      </p:sp>
      <p:sp>
        <p:nvSpPr>
          <p:cNvPr id="1048713" name="Shape 7"/>
          <p:cNvSpPr/>
          <p:nvPr/>
        </p:nvSpPr>
        <p:spPr>
          <a:xfrm>
            <a:off x="6355080" y="1691640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</p:spPr>
      </p:sp>
      <p:sp>
        <p:nvSpPr>
          <p:cNvPr id="1048714" name="Shape 8"/>
          <p:cNvSpPr/>
          <p:nvPr/>
        </p:nvSpPr>
        <p:spPr>
          <a:xfrm>
            <a:off x="6583680" y="1874520"/>
            <a:ext cx="457200" cy="457200"/>
          </a:xfrm>
          <a:prstGeom prst="ellipse"/>
          <a:solidFill>
            <a:srgbClr val="2E9E6B"/>
          </a:solidFill>
        </p:spPr>
      </p:sp>
      <p:pic>
        <p:nvPicPr>
          <p:cNvPr id="2097157" name="Image 1" descr="/home/claude/icons/solutio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02552" y="1993392"/>
            <a:ext cx="219456" cy="219456"/>
          </a:xfrm>
          <a:prstGeom prst="rect"/>
        </p:spPr>
      </p:pic>
      <p:sp>
        <p:nvSpPr>
          <p:cNvPr id="1048715" name="Text 9"/>
          <p:cNvSpPr txBox="1"/>
          <p:nvPr/>
        </p:nvSpPr>
        <p:spPr>
          <a:xfrm>
            <a:off x="7196328" y="1865376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6B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dirty="0" sz="1050" lang="en-US"/>
          </a:p>
        </p:txBody>
      </p:sp>
      <p:sp>
        <p:nvSpPr>
          <p:cNvPr id="1048716" name="Text 10"/>
          <p:cNvSpPr txBox="1"/>
          <p:nvPr/>
        </p:nvSpPr>
        <p:spPr>
          <a:xfrm>
            <a:off x="7196328" y="2148840"/>
            <a:ext cx="420624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parsing + dictionary-based typo correction standardized every brand name</a:t>
            </a:r>
            <a:endParaRPr dirty="0" sz="1200" lang="en-US"/>
          </a:p>
        </p:txBody>
      </p:sp>
      <p:sp>
        <p:nvSpPr>
          <p:cNvPr id="1048717" name="Shape 11"/>
          <p:cNvSpPr/>
          <p:nvPr/>
        </p:nvSpPr>
        <p:spPr>
          <a:xfrm>
            <a:off x="640080" y="3172968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0C4B4"/>
            </a:solidFill>
            <a:prstDash val="solid"/>
          </a:ln>
        </p:spPr>
      </p:sp>
      <p:sp>
        <p:nvSpPr>
          <p:cNvPr id="1048718" name="Shape 12"/>
          <p:cNvSpPr/>
          <p:nvPr/>
        </p:nvSpPr>
        <p:spPr>
          <a:xfrm>
            <a:off x="868680" y="3355848"/>
            <a:ext cx="457200" cy="457200"/>
          </a:xfrm>
          <a:prstGeom prst="ellipse"/>
          <a:solidFill>
            <a:srgbClr val="D9573F"/>
          </a:solidFill>
        </p:spPr>
      </p:sp>
      <p:pic>
        <p:nvPicPr>
          <p:cNvPr id="2097158" name="Image 2" descr="/home/claude/icons/problem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87552" y="3474720"/>
            <a:ext cx="219456" cy="219456"/>
          </a:xfrm>
          <a:prstGeom prst="rect"/>
        </p:spPr>
      </p:pic>
      <p:sp>
        <p:nvSpPr>
          <p:cNvPr id="1048719" name="Text 13"/>
          <p:cNvSpPr txBox="1"/>
          <p:nvPr/>
        </p:nvSpPr>
        <p:spPr>
          <a:xfrm>
            <a:off x="1481328" y="3346704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D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dirty="0" sz="1050" lang="en-US"/>
          </a:p>
        </p:txBody>
      </p:sp>
      <p:sp>
        <p:nvSpPr>
          <p:cNvPr id="1048720" name="Text 14"/>
          <p:cNvSpPr txBox="1"/>
          <p:nvPr/>
        </p:nvSpPr>
        <p:spPr>
          <a:xfrm>
            <a:off x="1481328" y="3630168"/>
            <a:ext cx="42519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categorical features risked dimensionality blow-up &amp; multicollinearity</a:t>
            </a:r>
            <a:endParaRPr dirty="0" sz="1200" lang="en-US"/>
          </a:p>
        </p:txBody>
      </p:sp>
      <p:sp>
        <p:nvSpPr>
          <p:cNvPr id="1048721" name="Shape 15"/>
          <p:cNvSpPr/>
          <p:nvPr/>
        </p:nvSpPr>
        <p:spPr>
          <a:xfrm rot="5400000">
            <a:off x="6053328" y="3721608"/>
            <a:ext cx="201168" cy="201168"/>
          </a:xfrm>
          <a:prstGeom prst="triangle"/>
          <a:solidFill>
            <a:srgbClr val="9CA6D9"/>
          </a:solidFill>
        </p:spPr>
      </p:sp>
      <p:sp>
        <p:nvSpPr>
          <p:cNvPr id="1048722" name="Shape 16"/>
          <p:cNvSpPr/>
          <p:nvPr/>
        </p:nvSpPr>
        <p:spPr>
          <a:xfrm>
            <a:off x="6355080" y="3172968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</p:spPr>
      </p:sp>
      <p:sp>
        <p:nvSpPr>
          <p:cNvPr id="1048723" name="Shape 17"/>
          <p:cNvSpPr/>
          <p:nvPr/>
        </p:nvSpPr>
        <p:spPr>
          <a:xfrm>
            <a:off x="6583680" y="3355848"/>
            <a:ext cx="457200" cy="457200"/>
          </a:xfrm>
          <a:prstGeom prst="ellipse"/>
          <a:solidFill>
            <a:srgbClr val="2E9E6B"/>
          </a:solidFill>
        </p:spPr>
      </p:sp>
      <p:pic>
        <p:nvPicPr>
          <p:cNvPr id="2097159" name="Image 3" descr="/home/claude/icons/solutio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02552" y="3474720"/>
            <a:ext cx="219456" cy="219456"/>
          </a:xfrm>
          <a:prstGeom prst="rect"/>
        </p:spPr>
      </p:pic>
      <p:sp>
        <p:nvSpPr>
          <p:cNvPr id="1048724" name="Text 18"/>
          <p:cNvSpPr txBox="1"/>
          <p:nvPr/>
        </p:nvSpPr>
        <p:spPr>
          <a:xfrm>
            <a:off x="7196328" y="3346704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6B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dirty="0" sz="1050" lang="en-US"/>
          </a:p>
        </p:txBody>
      </p:sp>
      <p:sp>
        <p:nvSpPr>
          <p:cNvPr id="1048725" name="Text 19"/>
          <p:cNvSpPr txBox="1"/>
          <p:nvPr/>
        </p:nvSpPr>
        <p:spPr>
          <a:xfrm>
            <a:off x="7196328" y="3630168"/>
            <a:ext cx="420624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with drop_first=True kept the feature space lean and leakage-safe</a:t>
            </a:r>
            <a:endParaRPr dirty="0" sz="1200" lang="en-US"/>
          </a:p>
        </p:txBody>
      </p:sp>
      <p:sp>
        <p:nvSpPr>
          <p:cNvPr id="1048726" name="Shape 20"/>
          <p:cNvSpPr/>
          <p:nvPr/>
        </p:nvSpPr>
        <p:spPr>
          <a:xfrm>
            <a:off x="640080" y="4654296"/>
            <a:ext cx="5257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0C4B4"/>
            </a:solidFill>
            <a:prstDash val="solid"/>
          </a:ln>
        </p:spPr>
      </p:sp>
      <p:sp>
        <p:nvSpPr>
          <p:cNvPr id="1048727" name="Shape 21"/>
          <p:cNvSpPr/>
          <p:nvPr/>
        </p:nvSpPr>
        <p:spPr>
          <a:xfrm>
            <a:off x="868680" y="4837176"/>
            <a:ext cx="457200" cy="457200"/>
          </a:xfrm>
          <a:prstGeom prst="ellipse"/>
          <a:solidFill>
            <a:srgbClr val="D9573F"/>
          </a:solidFill>
        </p:spPr>
      </p:sp>
      <p:pic>
        <p:nvPicPr>
          <p:cNvPr id="2097160" name="Image 4" descr="/home/claude/icons/problem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87552" y="4956048"/>
            <a:ext cx="219456" cy="219456"/>
          </a:xfrm>
          <a:prstGeom prst="rect"/>
        </p:spPr>
      </p:pic>
      <p:sp>
        <p:nvSpPr>
          <p:cNvPr id="1048728" name="Text 22"/>
          <p:cNvSpPr txBox="1"/>
          <p:nvPr/>
        </p:nvSpPr>
        <p:spPr>
          <a:xfrm>
            <a:off x="1481328" y="4828032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D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dirty="0" sz="1050" lang="en-US"/>
          </a:p>
        </p:txBody>
      </p:sp>
      <p:sp>
        <p:nvSpPr>
          <p:cNvPr id="1048729" name="Text 23"/>
          <p:cNvSpPr txBox="1"/>
          <p:nvPr/>
        </p:nvSpPr>
        <p:spPr>
          <a:xfrm>
            <a:off x="1481328" y="5111496"/>
            <a:ext cx="425196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predictions can be biased or overconfident on edge-case vehicles</a:t>
            </a:r>
            <a:endParaRPr dirty="0" sz="1200" lang="en-US"/>
          </a:p>
        </p:txBody>
      </p:sp>
      <p:sp>
        <p:nvSpPr>
          <p:cNvPr id="1048730" name="Shape 24"/>
          <p:cNvSpPr/>
          <p:nvPr/>
        </p:nvSpPr>
        <p:spPr>
          <a:xfrm rot="5400000">
            <a:off x="6053328" y="5202936"/>
            <a:ext cx="201168" cy="201168"/>
          </a:xfrm>
          <a:prstGeom prst="triangle"/>
          <a:solidFill>
            <a:srgbClr val="9CA6D9"/>
          </a:solidFill>
        </p:spPr>
      </p:sp>
      <p:sp>
        <p:nvSpPr>
          <p:cNvPr id="1048731" name="Shape 25"/>
          <p:cNvSpPr/>
          <p:nvPr/>
        </p:nvSpPr>
        <p:spPr>
          <a:xfrm>
            <a:off x="6355080" y="4654296"/>
            <a:ext cx="519379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</p:spPr>
      </p:sp>
      <p:sp>
        <p:nvSpPr>
          <p:cNvPr id="1048732" name="Shape 26"/>
          <p:cNvSpPr/>
          <p:nvPr/>
        </p:nvSpPr>
        <p:spPr>
          <a:xfrm>
            <a:off x="6583680" y="4837176"/>
            <a:ext cx="457200" cy="457200"/>
          </a:xfrm>
          <a:prstGeom prst="ellipse"/>
          <a:solidFill>
            <a:srgbClr val="2E9E6B"/>
          </a:solidFill>
        </p:spPr>
      </p:sp>
      <p:pic>
        <p:nvPicPr>
          <p:cNvPr id="2097161" name="Image 5" descr="/home/claude/icons/solutio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02552" y="4956048"/>
            <a:ext cx="219456" cy="219456"/>
          </a:xfrm>
          <a:prstGeom prst="rect"/>
        </p:spPr>
      </p:pic>
      <p:sp>
        <p:nvSpPr>
          <p:cNvPr id="1048733" name="Text 27"/>
          <p:cNvSpPr txBox="1"/>
          <p:nvPr/>
        </p:nvSpPr>
        <p:spPr>
          <a:xfrm>
            <a:off x="7196328" y="4828032"/>
            <a:ext cx="42062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6BC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dirty="0" sz="1050" lang="en-US"/>
          </a:p>
        </p:txBody>
      </p:sp>
      <p:sp>
        <p:nvSpPr>
          <p:cNvPr id="1048734" name="Text 28"/>
          <p:cNvSpPr txBox="1"/>
          <p:nvPr/>
        </p:nvSpPr>
        <p:spPr>
          <a:xfrm>
            <a:off x="7196328" y="5111496"/>
            <a:ext cx="420624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consensus function blends RF + GBR outputs into a real-time fair-price range</a:t>
            </a:r>
            <a:endParaRPr dirty="0" sz="1200" lang="en-US"/>
          </a:p>
        </p:txBody>
      </p:sp>
      <p:sp>
        <p:nvSpPr>
          <p:cNvPr id="1048735" name="Text 29"/>
          <p:cNvSpPr/>
          <p:nvPr/>
        </p:nvSpPr>
        <p:spPr>
          <a:xfrm>
            <a:off x="457200" y="6519672"/>
            <a:ext cx="7315200" cy="27432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with Machine Learning</a:t>
            </a:r>
            <a:endParaRPr dirty="0" sz="900" lang="en-US"/>
          </a:p>
        </p:txBody>
      </p:sp>
      <p:sp>
        <p:nvSpPr>
          <p:cNvPr id="1048736" name="Text 30"/>
          <p:cNvSpPr/>
          <p:nvPr/>
        </p:nvSpPr>
        <p:spPr>
          <a:xfrm>
            <a:off x="11365992" y="6519672"/>
            <a:ext cx="36576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2026-09-08T09:34:05Z</dcterms:created>
  <dcterms:modified xsi:type="dcterms:W3CDTF">2026-09-08T19:41:43Z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76a57ad8342941ba96cbd9dab23f8dc6_23</vt:lpwstr>
  </property>
</Properties>
</file>